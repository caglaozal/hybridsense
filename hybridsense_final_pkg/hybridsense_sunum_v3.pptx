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457200"/>
          </a:xfrm>
          <a:prstGeom prst="rect">
            <a:avLst/>
          </a:prstGeom>
          <a:solidFill>
            <a:srgbClr val="0D3554"/>
          </a:solidFill>
          <a:ln w="12700">
            <a:solidFill>
              <a:srgbClr val="0D35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HybridSense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AI Çerçevesi — Enerji Optimizasyonu &amp; Konfor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İlerleme Sunumu  |  WP1–WP3 Tamamlandı  |  WP4 Demo Odası Hazır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Çağla Özal</a:t>
            </a:r>
            <a:pPr indent="0" marL="0">
              <a:buNone/>
            </a:pPr>
            <a:r>
              <a:rPr lang="en-US" sz="14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Sena Berra Soydugan  ·  Başak Yıldız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Danışmanlar: Arif Selçuk Öğrenci  |  Rahim Dehkhargani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Kadir Has Üniversitesi  |  FENS 401-402  | 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Hoca Feedbackleri — Neler Yapıldı?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68580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18288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78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hybridsense_correlation.ipynb — 12 hücre, leakage kanıtı + tüm metrikler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8595360" cy="68580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54480"/>
            <a:ext cx="18288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45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Leakage Düzeltmesi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01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v1(30 feat)→v3(5 feat) | AUC 0.998→0.798 | HVAC sinyalleri çıkarıldı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8595360" cy="68580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77440"/>
            <a:ext cx="18288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249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feature seti üzerinde korelasyon matrisi + tek değişkenli AUC analizi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8595360" cy="68580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00400"/>
            <a:ext cx="18288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91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 / Flowchart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478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katmanlı kapalı döngü + PMV modülünün konumu gösterildi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8595360" cy="68580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23360"/>
            <a:ext cx="18288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14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(Slide 36+)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708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ROC, Precision/Recall/F1 — tüm standart metrikler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Ezberleme mi? Öğrenme mi?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2834640" cy="4023360"/>
          </a:xfrm>
          <a:prstGeom prst="rect">
            <a:avLst/>
          </a:prstGeom>
          <a:solidFill>
            <a:srgbClr val="0D3554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31520"/>
            <a:ext cx="2834640" cy="3840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31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EZBERLEME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651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delta_T_abs tek başına AUC=0.951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HVAC modundan türetildi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AUC=1.000±0.000 (imkânsız!)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eşik koşuyor, öğrenmiyor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odada tamamen çöker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731520"/>
            <a:ext cx="2834640" cy="4023360"/>
          </a:xfrm>
          <a:prstGeom prst="rect">
            <a:avLst/>
          </a:prstGeom>
          <a:solidFill>
            <a:srgbClr val="0D3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31520"/>
            <a:ext cx="283464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731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ÖĞRENIYOR ama...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2651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yok, AUC=0.782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is_workhour modeli kilitledi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 toplantısı = 'boş' diyor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bağımlılığı kısıt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Mesai dışı doluluk kaçıyor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731520"/>
            <a:ext cx="2834640" cy="402336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731520"/>
            <a:ext cx="28346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731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FIZIK ÖGRENIYOR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188720"/>
            <a:ext cx="2651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saf fiziksel sinyal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Saate bağımsız tahmin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AUC=0.798 (leakage yok)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Gece toplantısı da yakalanır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odaya transfer edilebilir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solidFill>
            <a:srgbClr val="0A2540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CV AUC=1.000 (leakage)  |  v2: AUC=0.782 (zaman kısıtı)  |  v3: AUC=0.798 (fizik, leakage yok, saat bağımsız)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Feature Seçimi — Fiziksel Gerekçe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713232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164592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86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return_temp_C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786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metabolik ısısı (70-90W) oda sıcaklığını yükseltir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75120" y="7863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değil return: HVAC kararından bağımsız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795528"/>
            <a:ext cx="0" cy="594360"/>
          </a:xfrm>
          <a:prstGeom prst="line">
            <a:avLst/>
          </a:prstGeom>
          <a:noFill/>
          <a:ln w="12700">
            <a:solidFill>
              <a:srgbClr val="0A2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795528"/>
            <a:ext cx="0" cy="594360"/>
          </a:xfrm>
          <a:prstGeom prst="line">
            <a:avLst/>
          </a:prstGeom>
          <a:noFill/>
          <a:ln w="12700">
            <a:solidFill>
              <a:srgbClr val="0A25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00200"/>
            <a:ext cx="8595360" cy="713232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00200"/>
            <a:ext cx="164592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36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supply_humidity_pct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1636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insan solukta ~17mg su buharı üretir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5120" y="16367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artışı dolulukla doğrusal, saate bağımsız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0" y="1645920"/>
            <a:ext cx="0" cy="594360"/>
          </a:xfrm>
          <a:prstGeom prst="line">
            <a:avLst/>
          </a:prstGeom>
          <a:noFill/>
          <a:ln w="12700">
            <a:solidFill>
              <a:srgbClr val="0A25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645920"/>
            <a:ext cx="0" cy="594360"/>
          </a:xfrm>
          <a:prstGeom prst="line">
            <a:avLst/>
          </a:prstGeom>
          <a:noFill/>
          <a:ln w="12700">
            <a:solidFill>
              <a:srgbClr val="0A2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450592"/>
            <a:ext cx="8595360" cy="713232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50592"/>
            <a:ext cx="164592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humidity_diff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Dolu ortamda dönüş nemi besleme nemini geçer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0" y="24871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 doluluk değişimini yakalar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0" y="2496312"/>
            <a:ext cx="0" cy="594360"/>
          </a:xfrm>
          <a:prstGeom prst="line">
            <a:avLst/>
          </a:prstGeom>
          <a:noFill/>
          <a:ln w="12700">
            <a:solidFill>
              <a:srgbClr val="0A25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496312"/>
            <a:ext cx="0" cy="594360"/>
          </a:xfrm>
          <a:prstGeom prst="line">
            <a:avLst/>
          </a:prstGeom>
          <a:noFill/>
          <a:ln w="12700">
            <a:solidFill>
              <a:srgbClr val="0A25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300984"/>
            <a:ext cx="8595360" cy="713232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300984"/>
            <a:ext cx="164592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temp_roc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1752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 girince sıcaklık hızla yükselir, çıkınca düşer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75120" y="3337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Geçiş anını en erken yakalayan sinyal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0" y="3346704"/>
            <a:ext cx="0" cy="594360"/>
          </a:xfrm>
          <a:prstGeom prst="line">
            <a:avLst/>
          </a:prstGeom>
          <a:noFill/>
          <a:ln w="12700">
            <a:solidFill>
              <a:srgbClr val="0A25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3346704"/>
            <a:ext cx="0" cy="594360"/>
          </a:xfrm>
          <a:prstGeom prst="line">
            <a:avLst/>
          </a:prstGeom>
          <a:noFill/>
          <a:ln w="12700">
            <a:solidFill>
              <a:srgbClr val="0A25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151376"/>
            <a:ext cx="8595360" cy="713232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151376"/>
            <a:ext cx="164592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return_dp_Pa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17520" y="4187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Ortamın termal/fiziksel durumu basınç farkına yansır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75120" y="41879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basıncı HVAC kontrolüne bağlı — return daha bağımsız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926080" y="4197096"/>
            <a:ext cx="0" cy="594360"/>
          </a:xfrm>
          <a:prstGeom prst="line">
            <a:avLst/>
          </a:prstGeom>
          <a:noFill/>
          <a:ln w="12700">
            <a:solidFill>
              <a:srgbClr val="0A25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4197096"/>
            <a:ext cx="0" cy="594360"/>
          </a:xfrm>
          <a:prstGeom prst="line">
            <a:avLst/>
          </a:prstGeom>
          <a:noFill/>
          <a:ln w="12700">
            <a:solidFill>
              <a:srgbClr val="0A254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 — PMV Nerede?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691640" cy="640080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14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Sensörleri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914400"/>
            <a:ext cx="1691640" cy="640080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914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Hazırlama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914400"/>
            <a:ext cx="1691640" cy="640080"/>
          </a:xfrm>
          <a:prstGeom prst="rect">
            <a:avLst/>
          </a:prstGeom>
          <a:solidFill>
            <a:srgbClr val="0D3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23360" y="914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Doluluk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1691640" cy="640080"/>
          </a:xfrm>
          <a:prstGeom prst="rect">
            <a:avLst/>
          </a:prstGeom>
          <a:solidFill>
            <a:srgbClr val="0D3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914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914400"/>
            <a:ext cx="1097280" cy="64008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0" y="914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→BMS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1234440"/>
            <a:ext cx="228600" cy="0"/>
          </a:xfrm>
          <a:prstGeom prst="line">
            <a:avLst/>
          </a:prstGeom>
          <a:noFill/>
          <a:ln w="25400">
            <a:solidFill>
              <a:srgbClr val="F0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7672" y="1097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5FA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94760" y="1234440"/>
            <a:ext cx="228600" cy="0"/>
          </a:xfrm>
          <a:prstGeom prst="line">
            <a:avLst/>
          </a:prstGeom>
          <a:noFill/>
          <a:ln w="25400">
            <a:solidFill>
              <a:srgbClr val="F0F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7912" y="1097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5FA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15000" y="1234440"/>
            <a:ext cx="228600" cy="0"/>
          </a:xfrm>
          <a:prstGeom prst="line">
            <a:avLst/>
          </a:prstGeom>
          <a:noFill/>
          <a:ln w="25400">
            <a:solidFill>
              <a:srgbClr val="F0F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88152" y="1097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5FA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1234440"/>
            <a:ext cx="228600" cy="0"/>
          </a:xfrm>
          <a:prstGeom prst="line">
            <a:avLst/>
          </a:prstGeom>
          <a:noFill/>
          <a:ln w="25400">
            <a:solidFill>
              <a:srgbClr val="F0F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1097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5FA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23360" y="1920240"/>
            <a:ext cx="1691640" cy="64008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023360" y="19202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73752" y="1554480"/>
            <a:ext cx="0" cy="36576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937760" y="1828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paralel,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2834640"/>
            <a:ext cx="4114800" cy="210312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2834640"/>
            <a:ext cx="41148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Modülü — Ne Yapar?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324612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Giris: return_temp_C + supply_humidity_pct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Kütüphane: pythermalcomfort (ISO 7730)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Çıkış: PMV skoru (−3 ile +3 arası)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 bandı: −0.5 ≤ PMV ≤ +0.5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kararı kısıtlar: 'dolu ama PMV kötü ise ısıt'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2834640"/>
            <a:ext cx="4297680" cy="2103120"/>
          </a:xfrm>
          <a:prstGeom prst="rect">
            <a:avLst/>
          </a:prstGeom>
          <a:solidFill>
            <a:srgbClr val="0D3554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834640"/>
            <a:ext cx="4297680" cy="34747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8346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Model Egitimine GIRMIYOR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3246120"/>
            <a:ext cx="4023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girdi feature'lari: 5 fiziksel sinyal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bu 5 feature arasinda YOK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hedef degisken (label) degil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dogruluk metrigi (AUC/F1) degil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sadece WP4 konfor degerlendir. icin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Termal Konfor Analizi — Sonuçlar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2560320" cy="2377440"/>
          </a:xfrm>
          <a:prstGeom prst="rect">
            <a:avLst/>
          </a:prstGeom>
          <a:solidFill>
            <a:srgbClr val="0D3554"/>
          </a:solidFill>
          <a:ln w="12700">
            <a:solidFill>
              <a:srgbClr val="7A8F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31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7730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Varsayimlar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22860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= 2.0 (ayakta ameliyat)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= 0.65 (hastane onlugu)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V_AIR = 0.25 m/s (laminar)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= tdb (sensor yok)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Maske: occupancy_label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731520"/>
            <a:ext cx="1371600" cy="2377440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63240" y="731520"/>
            <a:ext cx="13716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731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170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03320" y="117043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+0.348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8960" y="16093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03320" y="160934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20482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2048256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08960" y="248716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Occ.Risk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03320" y="248716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slot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731520"/>
            <a:ext cx="1371600" cy="237744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731520"/>
            <a:ext cx="137160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731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1°C Setback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1170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117043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+0.294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16093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160934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20482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2048256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17720" y="248716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Occ.Risk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248716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slot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731520"/>
            <a:ext cx="1371600" cy="2377440"/>
          </a:xfrm>
          <a:prstGeom prst="rect">
            <a:avLst/>
          </a:prstGeom>
          <a:solidFill>
            <a:srgbClr val="0D355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731520"/>
            <a:ext cx="137160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731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2°C Setback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1170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20840" y="117043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+0.241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6480" y="16093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0840" y="160934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0" y="20482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20840" y="2048256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26480" y="248716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Occ.Risk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20840" y="248716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slot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89520" y="731520"/>
            <a:ext cx="1371600" cy="2377440"/>
          </a:xfrm>
          <a:prstGeom prst="rect">
            <a:avLst/>
          </a:prstGeom>
          <a:solidFill>
            <a:srgbClr val="0D3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89520" y="731520"/>
            <a:ext cx="137160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731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3°C Setback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35240" y="11704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117043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+0.189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35240" y="16093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160934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635240" y="20482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2048256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90.7%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635240" y="248716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Occ.Risk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248716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slot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74320" y="3291840"/>
            <a:ext cx="8595360" cy="1508760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57200" y="3337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ASHRAE 170 &amp; ISO 7730 — Yorum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PMV = +0.348  →  ISO 7730 Kategori B (−0.5 ≤ PMV ≤ +0.5) — konfor bandinda  [OK]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Ameliyathane 20-22°C + nem %28-32:  ASHRAE 170 hastane standardina gore NORMAL  [OK]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2°C Setback yalnizca bos donemde uygulanir — occupied saatlerde PMV korunur, risk = 0 slot  [OK]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Degerlendirme — Confusion Matrix &amp; ROC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023360" cy="3657600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85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 (Slide 38)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3657600" cy="173736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8FA6"/>
                          </a:solidFill>
                        </a:rPr>
                        <a:t>Tahmin: Bos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8FA6"/>
                          </a:solidFill>
                        </a:rPr>
                        <a:t>Tahmin: Dolu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8FA6"/>
                          </a:solidFill>
                        </a:rPr>
                        <a:t>Gercek: Bos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</a:rPr>
                        <a:t>TN = 345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5350"/>
                          </a:solidFill>
                        </a:rPr>
                        <a:t>FP = 170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8FA6"/>
                          </a:solidFill>
                        </a:rPr>
                        <a:t>Gercek: Dolu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5350"/>
                          </a:solidFill>
                        </a:rPr>
                        <a:t>FN = 280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</a:rPr>
                        <a:t>TP = 842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2971800"/>
            <a:ext cx="1188720" cy="777240"/>
          </a:xfrm>
          <a:prstGeom prst="rect">
            <a:avLst/>
          </a:prstGeom>
          <a:solidFill>
            <a:srgbClr val="021B2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9992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325526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(TP+TN)/All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34381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72.5%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91640" y="2971800"/>
            <a:ext cx="1188720" cy="777240"/>
          </a:xfrm>
          <a:prstGeom prst="rect">
            <a:avLst/>
          </a:prstGeom>
          <a:solidFill>
            <a:srgbClr val="021B2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91640" y="29992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691640" y="325526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TP/(TP+FN)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34381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75.0%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71800" y="2971800"/>
            <a:ext cx="1188720" cy="777240"/>
          </a:xfrm>
          <a:prstGeom prst="rect">
            <a:avLst/>
          </a:prstGeom>
          <a:solidFill>
            <a:srgbClr val="021B2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71800" y="29992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71800" y="325526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TP/(TP+FP)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971800" y="34381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83.2%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0" y="685800"/>
            <a:ext cx="4297680" cy="3657600"/>
          </a:xfrm>
          <a:prstGeom prst="rect">
            <a:avLst/>
          </a:prstGeom>
          <a:solidFill>
            <a:srgbClr val="0D3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572000" y="6858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Egrisi  (Slide 46-47)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97280"/>
          <a:ext cx="4023360" cy="27432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5FA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5FA"/>
                          </a:solidFill>
                        </a:rPr>
                        <a:t>AUC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5FA"/>
                          </a:solidFill>
                        </a:rPr>
                        <a:t>Durum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5FA"/>
                          </a:solidFill>
                        </a:rPr>
                        <a:t>v3 RF (fizik, 5 feat)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</a:rPr>
                        <a:t>0.798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5FA"/>
                          </a:solidFill>
                        </a:rPr>
                        <a:t>Gercek performans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5FA"/>
                          </a:solidFill>
                        </a:rPr>
                        <a:t>v3 LR (fizik, 5 feat)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</a:rPr>
                        <a:t>0.805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5FA"/>
                          </a:solidFill>
                        </a:rPr>
                        <a:t>LR yorumlanabilir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5FA"/>
                          </a:solidFill>
                        </a:rPr>
                        <a:t>v1 (leaky, delta_T_abs)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5350"/>
                          </a:solidFill>
                        </a:rPr>
                        <a:t>0.998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5FA"/>
                          </a:solidFill>
                        </a:rPr>
                        <a:t>HVAC ezberi — gecersiz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5FA"/>
                          </a:solidFill>
                        </a:rPr>
                        <a:t>Rastgele (diagonal)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FA6"/>
                          </a:solidFill>
                        </a:rPr>
                        <a:t>0.500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5FA"/>
                          </a:solidFill>
                        </a:rPr>
                        <a:t>Slide 47 referansi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8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C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AUC=0.998 → diagonal alti degil, kose = trivial solution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AUC=0.798 → gercek ogrenme, fiziksel sinyal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 (Slide 40-41)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822960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6459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TP/(TP+FP)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978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'Dolu' dedigimizin kacu gercekten doluydu?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850392"/>
            <a:ext cx="822960" cy="320040"/>
          </a:xfrm>
          <a:prstGeom prst="rect">
            <a:avLst/>
          </a:prstGeom>
          <a:solidFill>
            <a:srgbClr val="021B2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8503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1704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772400" y="850392"/>
            <a:ext cx="822960" cy="320040"/>
          </a:xfrm>
          <a:prstGeom prst="rect">
            <a:avLst/>
          </a:prstGeom>
          <a:solidFill>
            <a:srgbClr val="021B2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8503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11704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783080"/>
            <a:ext cx="8595360" cy="822960"/>
          </a:xfrm>
          <a:prstGeom prst="rect">
            <a:avLst/>
          </a:prstGeom>
          <a:solidFill>
            <a:srgbClr val="0D355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783080"/>
            <a:ext cx="164592" cy="8229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828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1984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Gercek dolu periyotlarin kacini yakaladik?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856232"/>
            <a:ext cx="822960" cy="320040"/>
          </a:xfrm>
          <a:prstGeom prst="rect">
            <a:avLst/>
          </a:prstGeom>
          <a:solidFill>
            <a:srgbClr val="021B2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8562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1762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72400" y="1856232"/>
            <a:ext cx="822960" cy="320040"/>
          </a:xfrm>
          <a:prstGeom prst="rect">
            <a:avLst/>
          </a:prstGeom>
          <a:solidFill>
            <a:srgbClr val="021B2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8562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21762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788920"/>
            <a:ext cx="8595360" cy="822960"/>
          </a:xfrm>
          <a:prstGeom prst="rect">
            <a:avLst/>
          </a:prstGeom>
          <a:solidFill>
            <a:srgbClr val="0D3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788920"/>
            <a:ext cx="164592" cy="8229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2xPxR/(P+R)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29900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ve Recall harmonik ortalamasi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2862072"/>
            <a:ext cx="822960" cy="320040"/>
          </a:xfrm>
          <a:prstGeom prst="rect">
            <a:avLst/>
          </a:prstGeom>
          <a:solidFill>
            <a:srgbClr val="021B2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8620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1821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772400" y="2862072"/>
            <a:ext cx="822960" cy="320040"/>
          </a:xfrm>
          <a:prstGeom prst="rect">
            <a:avLst/>
          </a:prstGeom>
          <a:solidFill>
            <a:srgbClr val="021B2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28620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0" y="31821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794760"/>
            <a:ext cx="8595360" cy="82296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794760"/>
            <a:ext cx="164592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840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8640" y="4251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alti alan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51760" y="39959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Siniflar arasi ayirt etme kapasitesi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3867912"/>
            <a:ext cx="822960" cy="320040"/>
          </a:xfrm>
          <a:prstGeom prst="rect">
            <a:avLst/>
          </a:prstGeom>
          <a:solidFill>
            <a:srgbClr val="021B2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86791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0" y="41879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772400" y="3867912"/>
            <a:ext cx="822960" cy="320040"/>
          </a:xfrm>
          <a:prstGeom prst="rect">
            <a:avLst/>
          </a:prstGeom>
          <a:solidFill>
            <a:srgbClr val="021B2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0" y="386791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772400" y="41879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 — Siemens Demo Odasi Test Plani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4023360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41148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Transfer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Ayni 5 fiziksel feature — demoya transfer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MET=1.2, CLO=0.65, V_AIR=0.1 (ofis PMV)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Desigo CC → BACnet/IP → Raspberry 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return_temp + humidity → doluluk tahmini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Saate bagimli degil — akşam topl. yakalanir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31520"/>
            <a:ext cx="4114800" cy="4023360"/>
          </a:xfrm>
          <a:prstGeom prst="rect">
            <a:avLst/>
          </a:prstGeom>
          <a:solidFill>
            <a:srgbClr val="0D3554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31520"/>
            <a:ext cx="411480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31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 Degerlendirme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188720"/>
            <a:ext cx="3886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Doluluk tahmini: F1, AUC (gercek zamanlı)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 proxy: HVAC calisma suresi azaldi mi?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konfor bandi uymasi (%87.5 hedef)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BACnet iletisim stabilitesi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predictive karsilastirma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Ozet &amp; Sonraki Adimlar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48640"/>
          </a:xfrm>
          <a:prstGeom prst="rect">
            <a:avLst/>
          </a:prstGeom>
          <a:solidFill>
            <a:srgbClr val="0D355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164592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5953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leakage giderildi — v3: 5 fiziksel sinyal, AUC=0.798, ezberleme yok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408176"/>
            <a:ext cx="8595360" cy="548640"/>
          </a:xfrm>
          <a:prstGeom prst="rect">
            <a:avLst/>
          </a:prstGeom>
          <a:solidFill>
            <a:srgbClr val="0D355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08176"/>
            <a:ext cx="164592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1790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özelliği kaldirildi — model saat bagimsiz, gece toplantiyi da yakalar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8595360" cy="548640"/>
          </a:xfrm>
          <a:prstGeom prst="rect">
            <a:avLst/>
          </a:prstGeom>
          <a:solidFill>
            <a:srgbClr val="0D355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66544"/>
            <a:ext cx="164592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7627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modülü: pythermalcomfort (ISO 7730), model egitiminden tamamen bagimssiz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24912"/>
            <a:ext cx="8595360" cy="548640"/>
          </a:xfrm>
          <a:prstGeom prst="rect">
            <a:avLst/>
          </a:prstGeom>
          <a:solidFill>
            <a:srgbClr val="0D355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24912"/>
            <a:ext cx="164592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346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+ Jupyter notebook (12 hücre) güncellendi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8595360" cy="548640"/>
          </a:xfrm>
          <a:prstGeom prst="rect">
            <a:avLst/>
          </a:prstGeom>
          <a:solidFill>
            <a:srgbClr val="0D3554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83280"/>
            <a:ext cx="164592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930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eval: Confusion Matrix, ROC, Precision/Recall/F1 (Slide 38-47 referansi)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041648"/>
            <a:ext cx="8595360" cy="548640"/>
          </a:xfrm>
          <a:prstGeom prst="rect">
            <a:avLst/>
          </a:prstGeom>
          <a:solidFill>
            <a:srgbClr val="0D3554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041648"/>
            <a:ext cx="16459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5137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WP4: Demo odasi validasyonu (Mart-Nisan 2026) — BACnet entegrasyonu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FENS 401-402  |  Kadir Has Universitesi  |  2025-2026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2026-03-19T10:53:44Z</dcterms:created>
  <dcterms:modified xsi:type="dcterms:W3CDTF">2026-03-19T10:53:44Z</dcterms:modified>
</cp:coreProperties>
</file>